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8FF13-6A70-4799-9BC8-6D527F9B0A8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4C998-7AA2-468E-AC1F-923AF657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24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4C998-7AA2-468E-AC1F-923AF657534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860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4C998-7AA2-468E-AC1F-923AF657534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054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140321"/>
            <a:ext cx="1704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64171"/>
            <a:ext cx="8001000" cy="22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i="0" u="none">
                <a:solidFill>
                  <a:srgbClr val="F8FAFC"/>
                </a:solidFill>
                <a:latin typeface="Inter ExtraBold"/>
              </a:rPr>
              <a:t>Crowd Density Prediction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55553"/>
            <a:ext cx="5715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Data Integration • Feature Engineering • ML Tuning • Power BI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965203"/>
            <a:ext cx="147637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Space Grotesk"/>
              </a:rPr>
              <a:t>1.4398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546228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Inter SemiBold"/>
              </a:rPr>
              <a:t>FINAL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3175" y="4965203"/>
            <a:ext cx="155257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Space Grotesk"/>
              </a:rPr>
              <a:t>0.9989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3175" y="5546228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Inter SemiBold"/>
              </a:rPr>
              <a:t>FINAL R²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229225"/>
            <a:ext cx="10972800" cy="1019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40322"/>
            <a:ext cx="3454449" cy="1984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849" y="2340322"/>
            <a:ext cx="3454449" cy="19847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40322"/>
            <a:ext cx="3454449" cy="1984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01 •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The Crowd Management Challenge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654647"/>
            <a:ext cx="342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3188047"/>
            <a:ext cx="296708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Unpredictable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30947"/>
            <a:ext cx="28257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Dynamic surges and congestion hotspots defy anticipation.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174" y="2654647"/>
            <a:ext cx="3810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83174" y="3188047"/>
            <a:ext cx="296708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Manual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3530947"/>
            <a:ext cx="28257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Continuous zone-wide monitoring scales poorly operationally.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424" y="2654647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2424" y="3188047"/>
            <a:ext cx="296708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424" y="3530947"/>
            <a:ext cx="28257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Predict zone-level density for optimized security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57825"/>
            <a:ext cx="165020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Inter"/>
              </a:rPr>
              <a:t>TARGET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24525"/>
            <a:ext cx="157162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Space Grotesk"/>
              </a:rPr>
              <a:t>People_Count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101" y="5505450"/>
            <a:ext cx="399049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94A3B8"/>
                </a:solidFill>
                <a:latin typeface="Inter"/>
              </a:rPr>
              <a:t>BUSINESS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7125" y="5772150"/>
            <a:ext cx="3800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0" i="0" u="none">
                <a:solidFill>
                  <a:srgbClr val="FFFFFF"/>
                </a:solidFill>
                <a:latin typeface="Inter"/>
              </a:rPr>
              <a:t>Proactive resource allocation and flow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543550"/>
            <a:ext cx="10972800" cy="704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4629"/>
            <a:ext cx="3111549" cy="29104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99" y="2154584"/>
            <a:ext cx="3111549" cy="2670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154584"/>
            <a:ext cx="3111549" cy="26705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0500" y="2501354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2621309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899" y="2621309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02 • DATA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Three Sources → One Analytical Dataset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5949" y="3375570"/>
            <a:ext cx="2095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6649" y="3375570"/>
            <a:ext cx="2095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5781675"/>
            <a:ext cx="10496550" cy="228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3A8A"/>
                </a:solidFill>
                <a:latin typeface="Inter SemiBold"/>
              </a:rPr>
              <a:t>Event_ID + Seat_ID → unified sensor, spatial, and movement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852" y="3339554"/>
            <a:ext cx="2607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Seat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82454"/>
            <a:ext cx="2482899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Sensor X/Y coordinates.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98565"/>
            <a:ext cx="24828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Actual measured People_Count.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2552" y="3459509"/>
            <a:ext cx="2607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Event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4624" y="3802409"/>
            <a:ext cx="2482899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Event attendance figures.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4624" y="4118520"/>
            <a:ext cx="2482899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Sellout and gate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251" y="3459509"/>
            <a:ext cx="2607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Movement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5324" y="3802409"/>
            <a:ext cx="2482899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Source to target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5324" y="4118520"/>
            <a:ext cx="2482899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Inherent capacity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3540"/>
            <a:ext cx="5257800" cy="43548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93540"/>
            <a:ext cx="5257800" cy="4354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03 •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Sensor Data &amp; Spatial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131665"/>
            <a:ext cx="502062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Target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484090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People_Count broadly distributed across 50–200. Smooth KDE estimation supports balanced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131665"/>
            <a:ext cx="502062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Primary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484090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Detected_Heads scales linearly with ground-truth density. Very strong predictive signal.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6CE0DB-9C70-DB35-66CD-37321CAE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6" y="2971509"/>
            <a:ext cx="4781550" cy="3134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14EA55-9EAB-9F84-987C-D3C3AD1A2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257" y="2986832"/>
            <a:ext cx="3923071" cy="31472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3540"/>
            <a:ext cx="5799832" cy="4467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04 • VARIABLE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Core Feature Correlations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19032" y="4122390"/>
            <a:ext cx="4563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19032" y="1893540"/>
            <a:ext cx="456336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3B82F6"/>
                </a:solidFill>
                <a:latin typeface="Space Grotesk"/>
              </a:rPr>
              <a:t>r=1.00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9032" y="2807940"/>
            <a:ext cx="479153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Detected_Heads &amp; Turnstile_Count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032" y="3207990"/>
            <a:ext cx="4563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Extreme positive linear relationship with target density.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9032" y="4589115"/>
            <a:ext cx="456336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64748B"/>
                </a:solidFill>
                <a:latin typeface="Space Grotesk"/>
              </a:rPr>
              <a:t>r=0.87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032" y="5503515"/>
            <a:ext cx="479153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Seat_Occupancy_Prob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9032" y="5903565"/>
            <a:ext cx="4563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Strong association, but excluded as a derived variable.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5755A8-9FEE-AADA-D494-DBD10FB2A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0" y="2013371"/>
            <a:ext cx="5311600" cy="4237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373784"/>
            <a:ext cx="6438900" cy="55753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82407"/>
            <a:ext cx="4076700" cy="14032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07029"/>
            <a:ext cx="4076700" cy="16552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911875"/>
            <a:ext cx="4076700" cy="1655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05 • SPATIAL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Where Is Crowd Density Concentrated?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626840"/>
            <a:ext cx="1181100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2007502"/>
            <a:ext cx="37804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Coordinate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388197"/>
            <a:ext cx="36004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Inter"/>
              </a:rPr>
              <a:t>X/Y map directly to coordinates. Color indicates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People_Count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level.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099970"/>
            <a:ext cx="13335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3559289"/>
            <a:ext cx="37804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Distributed Surges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54147"/>
            <a:ext cx="36004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Inter"/>
              </a:rPr>
              <a:t>High-count observations disperse across multiple zones, not just one point.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5048039"/>
            <a:ext cx="1428750" cy="276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7725" y="5378000"/>
            <a:ext cx="37804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Spatial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772167"/>
            <a:ext cx="3600450" cy="20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Inter"/>
              </a:rPr>
              <a:t>Validates zone-level congestion monitoring for Power BI tracking.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2010ED-0B0D-D449-A34A-14BE7F088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1373784"/>
            <a:ext cx="6438900" cy="5241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3540"/>
            <a:ext cx="5181600" cy="43548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93540"/>
            <a:ext cx="5181600" cy="435485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4198590"/>
            <a:ext cx="424815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06 • 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Retained vs. Rejected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4925" y="2360265"/>
            <a:ext cx="422052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11 Retained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6125" y="2360265"/>
            <a:ext cx="422052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Inter"/>
              </a:rPr>
              <a:t>Excluded Variables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238407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6325" y="28650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Turnstile_Count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2079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BLE_Pings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508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Pressure_Mat_Activations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937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Detected_Heads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2366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Visibility_Score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5795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Seat_X &amp; Seat_Y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9224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Total &amp; Zone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5265390"/>
            <a:ext cx="4248150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Inflow &amp; Outflow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7075" y="238407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67525" y="2865090"/>
            <a:ext cx="4248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Identifiers: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 Event_ID, Seat_ID, Frame_ID, Gate_ID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525" y="3207990"/>
            <a:ext cx="4248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Derived constraints: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 Capacity 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525" y="3550890"/>
            <a:ext cx="4248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Data types: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 Categorical &amp; Time fields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2946052"/>
            <a:ext cx="1047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288952"/>
            <a:ext cx="1047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631852"/>
            <a:ext cx="1047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974752"/>
            <a:ext cx="1047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317652"/>
            <a:ext cx="1047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660552"/>
            <a:ext cx="10477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5003452"/>
            <a:ext cx="10477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5346352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07 •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Data Pipeline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127920"/>
            <a:ext cx="76200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38275" y="4118520"/>
            <a:ext cx="1200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80/20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3487" y="4442370"/>
            <a:ext cx="16097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80% training data.</a:t>
            </a:r>
            <a:r>
              <a:t>
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20% unseen test data.</a:t>
            </a:r>
            <a:r>
              <a:t>
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(random_state = 42)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223170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5896" y="4213770"/>
            <a:ext cx="166020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StandardScaler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775" y="4537620"/>
            <a:ext cx="20764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Transforms numerical inputs.</a:t>
            </a:r>
            <a:r>
              <a:t>
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z = (x − μ) / σ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3223170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53525" y="4213770"/>
            <a:ext cx="2000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Continuous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3075" y="4537620"/>
            <a:ext cx="1581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Fit on training data.</a:t>
            </a:r>
            <a:r>
              <a:t>
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Predict People_Count.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37557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3470820"/>
            <a:ext cx="33337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3470820"/>
            <a:ext cx="266700" cy="2667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562100" y="4070895"/>
            <a:ext cx="9067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08 •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Algorithm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999208"/>
          <a:ext cx="10972798" cy="414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8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5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4748B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4748B"/>
                          </a:solidFill>
                          <a:latin typeface="Inter"/>
                        </a:rPr>
                        <a:t>RMSE ↓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4748B"/>
                          </a:solidFill>
                          <a:latin typeface="Inter"/>
                        </a:rPr>
                        <a:t>R² 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4748B"/>
                          </a:solidFill>
                          <a:latin typeface="Inter"/>
                        </a:rPr>
                        <a:t>OBSERVATION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 SemiBold"/>
                        </a:rPr>
                        <a:t>1.4404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 SemiBold"/>
                        </a:rPr>
                        <a:t>0.9989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Best baseline performance.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Gradient 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1.7437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0.9984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Strong non-linear capture.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1.7506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0.9984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Strong overall fit.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1.8749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0.9981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Adequate tree ensemble.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56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Decision 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monospace"/>
                        </a:rPr>
                        <a:t>2.7350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0.9960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Highest error rate observed.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3540"/>
            <a:ext cx="5267325" cy="43548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93540"/>
            <a:ext cx="5248275" cy="435485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25" y="4475708"/>
            <a:ext cx="4333875" cy="504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09 • FINAL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Ridge Regression Tuning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127920"/>
            <a:ext cx="433387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3737520"/>
            <a:ext cx="455056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Why Ridge?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213770"/>
            <a:ext cx="43338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L2 regularization controls coefficient magnitude. Crucial for stability when predictors are highly correlated.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25" y="2704058"/>
            <a:ext cx="433387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91325" y="3313658"/>
            <a:ext cx="455056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GridSearchCV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3789908"/>
            <a:ext cx="4333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5-fold cross-validation across hyperparameter search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5209133"/>
            <a:ext cx="4333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Inter"/>
              </a:rPr>
              <a:t>Selected: α = 0.01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36340"/>
            <a:ext cx="6499919" cy="53488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672" y="5589240"/>
            <a:ext cx="4015680" cy="1195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10 • FINAL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Actual vs Predicted Density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3559" y="3731865"/>
            <a:ext cx="76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66719" y="1893540"/>
            <a:ext cx="401568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>
                <a:solidFill>
                  <a:srgbClr val="0F172A"/>
                </a:solidFill>
                <a:latin typeface="Space Grotesk ExtraBold"/>
              </a:rPr>
              <a:t>1.44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6719" y="2998440"/>
            <a:ext cx="401568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4748B"/>
                </a:solidFill>
                <a:latin typeface="Inter"/>
              </a:rPr>
              <a:t>TEST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6719" y="4208115"/>
            <a:ext cx="401568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>
                <a:solidFill>
                  <a:srgbClr val="0F172A"/>
                </a:solidFill>
                <a:latin typeface="Space Grotesk ExtraBold"/>
              </a:rPr>
              <a:t>0.99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6719" y="5313015"/>
            <a:ext cx="401568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4748B"/>
                </a:solidFill>
                <a:latin typeface="Inter"/>
              </a:rPr>
              <a:t>TEST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6764" y="5924550"/>
            <a:ext cx="3387030" cy="57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 dirty="0">
                <a:solidFill>
                  <a:srgbClr val="1E3A8A"/>
                </a:solidFill>
                <a:latin typeface="Inter"/>
              </a:rPr>
              <a:t>Points close to the 45° line indicate predictions align precisely with actual crowd counts.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501182-91C1-4B66-0FA0-D24F2EFD2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48" y="1485244"/>
            <a:ext cx="6771759" cy="52999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320" y="1731540"/>
            <a:ext cx="6225480" cy="43548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11 •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From Model Output to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3299370"/>
            <a:ext cx="19050" cy="3048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4670970"/>
            <a:ext cx="19050" cy="3048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0402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0897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28057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62" y="2537370"/>
            <a:ext cx="1428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400" y="2404020"/>
            <a:ext cx="163848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Model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2670720"/>
            <a:ext cx="15604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monospace"/>
              </a:rPr>
              <a:t>tuned_crowd_model.pkl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851695"/>
            <a:ext cx="15604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monospace"/>
              </a:rPr>
              <a:t>data_preprocessor.pkl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404232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3908970"/>
            <a:ext cx="22627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Prediction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175670"/>
            <a:ext cx="215503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monospace"/>
              </a:rPr>
              <a:t>powerbi_final_predictions.csv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2" y="5413920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5400" y="5280570"/>
            <a:ext cx="341042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Inter"/>
              </a:rPr>
              <a:t>Power BI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5547270"/>
            <a:ext cx="3248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Spatial map • Gate filters • Congestion spots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BAB8C6-D163-CA8C-618B-506976FEA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6103" y="1436340"/>
            <a:ext cx="7839083" cy="5030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097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Space Grotesk"/>
              </a:rPr>
              <a:t>12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3450"/>
            <a:ext cx="1152144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Pipeline Delivered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45159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945159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4815631"/>
            <a:ext cx="33337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815631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9725" y="2743348"/>
            <a:ext cx="41405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Engineered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725" y="3048148"/>
            <a:ext cx="3943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11 unified sensor, spatial, and movement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3775" y="2743348"/>
            <a:ext cx="40405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3775" y="3048148"/>
            <a:ext cx="38481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5 regression algorithms across consistent setups.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4733776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100" y="5038576"/>
            <a:ext cx="39624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Ridge regression tuned via 5-fold GridSearchCV.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8525" y="4613820"/>
            <a:ext cx="41405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8525" y="4918620"/>
            <a:ext cx="3943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Interactive Power BI congestion analysis enabled.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614</Words>
  <Application>Microsoft Office PowerPoint</Application>
  <PresentationFormat>Widescreen</PresentationFormat>
  <Paragraphs>137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Inter</vt:lpstr>
      <vt:lpstr>Inter ExtraBold</vt:lpstr>
      <vt:lpstr>Inter SemiBold</vt:lpstr>
      <vt:lpstr>monospace</vt:lpstr>
      <vt:lpstr>monospace SemiBold</vt:lpstr>
      <vt:lpstr>Space Grotesk</vt:lpstr>
      <vt:lpstr>Space Grotesk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VINODH KUMAR VK</cp:lastModifiedBy>
  <cp:revision>2</cp:revision>
  <dcterms:created xsi:type="dcterms:W3CDTF">2013-01-27T09:14:16Z</dcterms:created>
  <dcterms:modified xsi:type="dcterms:W3CDTF">2026-09-01T18:34:45Z</dcterms:modified>
  <cp:category/>
</cp:coreProperties>
</file>