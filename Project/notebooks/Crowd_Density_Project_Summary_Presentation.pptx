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ptos Display"/>
              </a:rPr>
              <a:t>Crowd Density Prediction
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9DCCF"/>
                </a:solidFill>
                <a:latin typeface="Aptos"/>
              </a:rPr>
              <a:t>Project Summary — Problem • Model Selection • Comparative Study •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251960"/>
            <a:ext cx="2926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361688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F705B"/>
                </a:solidFill>
                <a:latin typeface="Aptos Display"/>
              </a:rPr>
              <a:t>1.4398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103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69716C"/>
                </a:solidFill>
                <a:latin typeface="Aptos"/>
              </a:rPr>
              <a:t>Final RMSE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4251960"/>
            <a:ext cx="2926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59" y="4361688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F705B"/>
                </a:solidFill>
                <a:latin typeface="Aptos Display"/>
              </a:rPr>
              <a:t>0.9989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9" y="49103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69716C"/>
                </a:solidFill>
                <a:latin typeface="Aptos"/>
              </a:rPr>
              <a:t>Final R²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4251960"/>
            <a:ext cx="2926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4361688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F705B"/>
                </a:solidFill>
                <a:latin typeface="Aptos Display"/>
              </a:rPr>
              <a:t>0.01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9103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69716C"/>
                </a:solidFill>
                <a:latin typeface="Aptos"/>
              </a:rPr>
              <a:t>Best Ridge 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16C"/>
                </a:solidFill>
                <a:latin typeface="Aptos"/>
              </a:rPr>
              <a:t>Crowd Density Prediction &amp; Optimization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7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26"/>
                </a:solidFill>
                <a:latin typeface="Aptos Display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41148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F705B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303733"/>
                </a:solidFill>
                <a:latin typeface="Aptos"/>
              </a:defRPr>
            </a:pPr>
            <a:r>
              <a:t>•  Large-scale venues experience unpredictable crowd flow, crowd surges and congestion hotspots.</a:t>
            </a:r>
          </a:p>
          <a:p>
            <a:pPr>
              <a:spcAft>
                <a:spcPts val="1100"/>
              </a:spcAft>
              <a:defRPr sz="1800">
                <a:solidFill>
                  <a:srgbClr val="303733"/>
                </a:solidFill>
                <a:latin typeface="Aptos"/>
              </a:defRPr>
            </a:pPr>
            <a:r>
              <a:t>•  Manual monitoring cannot continuously estimate crowd density across many seating zones.</a:t>
            </a:r>
          </a:p>
          <a:p>
            <a:pPr>
              <a:spcAft>
                <a:spcPts val="1100"/>
              </a:spcAft>
              <a:defRPr sz="1800">
                <a:solidFill>
                  <a:srgbClr val="303733"/>
                </a:solidFill>
                <a:latin typeface="Aptos"/>
              </a:defRPr>
            </a:pPr>
            <a:r>
              <a:t>•  The objective is to predict People_Count for a seating zone using sensor, spatial, event and movement information.</a:t>
            </a:r>
          </a:p>
          <a:p>
            <a:pPr>
              <a:spcAft>
                <a:spcPts val="1100"/>
              </a:spcAft>
              <a:defRPr sz="1800">
                <a:solidFill>
                  <a:srgbClr val="303733"/>
                </a:solidFill>
                <a:latin typeface="Aptos"/>
              </a:defRPr>
            </a:pPr>
            <a:r>
              <a:t>•  Predicted density can support congestion monitoring, security resource allocation and crowd-flow management.</a:t>
            </a:r>
          </a:p>
          <a:p>
            <a:pPr>
              <a:spcAft>
                <a:spcPts val="1100"/>
              </a:spcAft>
              <a:defRPr sz="1800">
                <a:solidFill>
                  <a:srgbClr val="303733"/>
                </a:solidFill>
                <a:latin typeface="Aptos"/>
              </a:defRPr>
            </a:pPr>
            <a:r>
              <a:t>•  Because People_Count is continuous, the problem is formulated as supervised regression.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489204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18120" y="4892040"/>
            <a:ext cx="73152" cy="960120"/>
          </a:xfrm>
          <a:prstGeom prst="rect">
            <a:avLst/>
          </a:prstGeom>
          <a:solidFill>
            <a:srgbClr val="498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5056631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D26"/>
                </a:solidFill>
                <a:latin typeface="Aptos"/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5577840"/>
            <a:ext cx="3063239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03733"/>
                </a:solidFill>
                <a:latin typeface="Aptos"/>
              </a:defRPr>
            </a:pPr>
            <a:r>
              <a:t>People_Count = number of people in the seating zone.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16C"/>
                </a:solidFill>
                <a:latin typeface="Aptos"/>
              </a:rPr>
              <a:t>Crowd Density Prediction &amp; Optimization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7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26"/>
                </a:solidFill>
                <a:latin typeface="Aptos Display"/>
              </a:rPr>
              <a:t>Model Chosen &amp;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41148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F705B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4480560"/>
          </a:xfrm>
          <a:prstGeom prst="rect">
            <a:avLst/>
          </a:prstGeom>
          <a:solidFill>
            <a:srgbClr val="1F7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990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D26"/>
                </a:solidFill>
                <a:latin typeface="Aptos"/>
              </a:rPr>
              <a:t>Model Chosen — Ridge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0175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03733"/>
                </a:solidFill>
                <a:latin typeface="Aptos"/>
              </a:defRPr>
            </a:pPr>
            <a:r>
              <a:t>Ridge extends Linear Regression by adding L2 regularization.</a:t>
            </a:r>
            <a:br/>
            <a:br/>
            <a:r>
              <a:t>Linear Regression produced the best baseline RMSE, so the linear approach was retained for tuning.</a:t>
            </a:r>
            <a:br/>
            <a:br/>
            <a:r>
              <a:t>Ridge helps control coefficient magnitude when predictors are highly correlated.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73152" cy="4480560"/>
          </a:xfrm>
          <a:prstGeom prst="rect">
            <a:avLst/>
          </a:prstGeom>
          <a:solidFill>
            <a:srgbClr val="498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3990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D26"/>
                </a:solidFill>
                <a:latin typeface="Aptos"/>
              </a:rPr>
              <a:t>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20240"/>
            <a:ext cx="30175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03733"/>
                </a:solidFill>
                <a:latin typeface="Aptos"/>
              </a:defRPr>
            </a:pPr>
            <a:r>
              <a:t>GridSearchCV + 5-fold cross-validation.</a:t>
            </a:r>
            <a:br/>
            <a:br/>
            <a:r>
              <a:t>Tested α:</a:t>
            </a:r>
            <a:br/>
            <a:r>
              <a:t>0.001, 0.01, 0.1, 1, 10, 100</a:t>
            </a:r>
            <a:br/>
            <a:br/>
            <a:r>
              <a:t>Best α = 0.01</a:t>
            </a:r>
            <a:br/>
            <a:br/>
            <a:r>
              <a:t>The tuned model was then evaluated on the unseen test 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3444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234440"/>
            <a:ext cx="73152" cy="4480560"/>
          </a:xfrm>
          <a:prstGeom prst="rect">
            <a:avLst/>
          </a:prstGeom>
          <a:solidFill>
            <a:srgbClr val="1F7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990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D26"/>
                </a:solidFill>
                <a:latin typeface="Aptos"/>
              </a:rPr>
              <a:t>Final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30175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03733"/>
                </a:solidFill>
                <a:latin typeface="Aptos"/>
              </a:defRPr>
            </a:pPr>
            <a:r>
              <a:t>RMSE = 1.4398</a:t>
            </a:r>
            <a:br/>
            <a:br/>
            <a:r>
              <a:t>R² = 0.9989</a:t>
            </a:r>
            <a:br/>
            <a:br/>
            <a:r>
              <a:t>The actual-vs-predicted points closely follow the perfect-prediction line, showing very small test-set errors.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16C"/>
                </a:solidFill>
                <a:latin typeface="Aptos"/>
              </a:rPr>
              <a:t>Crowd Density Prediction &amp; Optimization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7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26"/>
                </a:solidFill>
                <a:latin typeface="Aptos Display"/>
              </a:rPr>
              <a:t>Comparative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41148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F705B"/>
                </a:solidFill>
                <a:latin typeface="Aptos"/>
              </a:rPr>
              <a:t>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325880"/>
          <a:ext cx="1065276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2663190"/>
                <a:gridCol w="2663190"/>
                <a:gridCol w="2663190"/>
              </a:tblGrid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>
                    <a:solidFill>
                      <a:srgbClr val="1F2D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RMSE</a:t>
                      </a:r>
                    </a:p>
                  </a:txBody>
                  <a:tcPr>
                    <a:solidFill>
                      <a:srgbClr val="1F2D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R²</a:t>
                      </a:r>
                    </a:p>
                  </a:txBody>
                  <a:tcPr>
                    <a:solidFill>
                      <a:srgbClr val="1F2D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Observation</a:t>
                      </a:r>
                    </a:p>
                  </a:txBody>
                  <a:tcPr>
                    <a:solidFill>
                      <a:srgbClr val="1F2D2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2D26"/>
                          </a:solidFill>
                          <a:latin typeface="Aptos"/>
                        </a:rPr>
                        <a:t>Linear Regression</a:t>
                      </a:r>
                    </a:p>
                  </a:txBody>
                  <a:tcPr>
                    <a:solidFill>
                      <a:srgbClr val="EB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F2D26"/>
                          </a:solidFill>
                          <a:latin typeface="Aptos"/>
                        </a:rPr>
                        <a:t>1.4404</a:t>
                      </a:r>
                    </a:p>
                  </a:txBody>
                  <a:tcPr>
                    <a:solidFill>
                      <a:srgbClr val="EB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F2D26"/>
                          </a:solidFill>
                          <a:latin typeface="Aptos"/>
                        </a:rPr>
                        <a:t>0.9989</a:t>
                      </a:r>
                    </a:p>
                  </a:txBody>
                  <a:tcPr>
                    <a:solidFill>
                      <a:srgbClr val="EB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F2D26"/>
                          </a:solidFill>
                          <a:latin typeface="Aptos"/>
                        </a:rPr>
                        <a:t>Best baseline</a:t>
                      </a:r>
                    </a:p>
                  </a:txBody>
                  <a:tcPr>
                    <a:solidFill>
                      <a:srgbClr val="EBF3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D26"/>
                          </a:solidFill>
                          <a:latin typeface="Aptos"/>
                        </a:rPr>
                        <a:t>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D26"/>
                          </a:solidFill>
                          <a:latin typeface="Aptos"/>
                        </a:rPr>
                        <a:t>2.7350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D26"/>
                          </a:solidFill>
                          <a:latin typeface="Aptos"/>
                        </a:rPr>
                        <a:t>0.9960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D26"/>
                          </a:solidFill>
                          <a:latin typeface="Aptos"/>
                        </a:rPr>
                        <a:t>Highest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D26"/>
                          </a:solidFill>
                          <a:latin typeface="Aptos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D26"/>
                          </a:solidFill>
                          <a:latin typeface="Aptos"/>
                        </a:rPr>
                        <a:t>1.8749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D26"/>
                          </a:solidFill>
                          <a:latin typeface="Aptos"/>
                        </a:rPr>
                        <a:t>0.9981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D26"/>
                          </a:solidFill>
                          <a:latin typeface="Aptos"/>
                        </a:rP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D26"/>
                          </a:solidFill>
                          <a:latin typeface="Aptos"/>
                        </a:rP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D26"/>
                          </a:solidFill>
                          <a:latin typeface="Aptos"/>
                        </a:rPr>
                        <a:t>1.7437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D26"/>
                          </a:solidFill>
                          <a:latin typeface="Aptos"/>
                        </a:rPr>
                        <a:t>0.9984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D26"/>
                          </a:solidFill>
                          <a:latin typeface="Aptos"/>
                        </a:rP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D26"/>
                          </a:solidFill>
                          <a:latin typeface="Aptos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D26"/>
                          </a:solidFill>
                          <a:latin typeface="Aptos"/>
                        </a:rPr>
                        <a:t>1.7506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D26"/>
                          </a:solidFill>
                          <a:latin typeface="Aptos"/>
                        </a:rPr>
                        <a:t>0.9984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D26"/>
                          </a:solidFill>
                          <a:latin typeface="Aptos"/>
                        </a:rP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760720"/>
            <a:ext cx="100584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5760720"/>
            <a:ext cx="73152" cy="502920"/>
          </a:xfrm>
          <a:prstGeom prst="rect">
            <a:avLst/>
          </a:prstGeom>
          <a:solidFill>
            <a:srgbClr val="498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925312"/>
            <a:ext cx="9646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D26"/>
                </a:solidFill>
                <a:latin typeface="Aptos"/>
              </a:rPr>
              <a:t>Selection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9646920" cy="-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03733"/>
                </a:solidFill>
                <a:latin typeface="Aptos"/>
              </a:defRPr>
            </a:pPr>
            <a:r>
              <a:t>Lower RMSE indicates lower prediction error. Linear Regression was the strongest baseline; Ridge was then tuned.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16C"/>
                </a:solidFill>
                <a:latin typeface="Aptos"/>
              </a:rPr>
              <a:t>Crowd Density Prediction &amp; Optimization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7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26"/>
                </a:solidFill>
                <a:latin typeface="Aptos Display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41148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F705B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303733"/>
                </a:solidFill>
                <a:latin typeface="Aptos"/>
              </a:defRPr>
            </a:pPr>
            <a:r>
              <a:t>•  An end-to-end crowd-density prediction pipeline was developed using sensor, spatial, event and movement data.</a:t>
            </a:r>
          </a:p>
          <a:p>
            <a:pPr>
              <a:spcAft>
                <a:spcPts val="1100"/>
              </a:spcAft>
              <a:defRPr sz="1600">
                <a:solidFill>
                  <a:srgbClr val="303733"/>
                </a:solidFill>
                <a:latin typeface="Aptos"/>
              </a:defRPr>
            </a:pPr>
            <a:r>
              <a:t>•  Five regression algorithms were compared. Linear Regression achieved the lowest baseline RMSE of 1.4404.</a:t>
            </a:r>
          </a:p>
          <a:p>
            <a:pPr>
              <a:spcAft>
                <a:spcPts val="1100"/>
              </a:spcAft>
              <a:defRPr sz="1600">
                <a:solidFill>
                  <a:srgbClr val="303733"/>
                </a:solidFill>
                <a:latin typeface="Aptos"/>
              </a:defRPr>
            </a:pPr>
            <a:r>
              <a:t>•  Ridge Regression was chosen for further tuning because L2 regularization is useful with correlated predictors.</a:t>
            </a:r>
          </a:p>
          <a:p>
            <a:pPr>
              <a:spcAft>
                <a:spcPts val="1100"/>
              </a:spcAft>
              <a:defRPr sz="1600">
                <a:solidFill>
                  <a:srgbClr val="303733"/>
                </a:solidFill>
                <a:latin typeface="Aptos"/>
              </a:defRPr>
            </a:pPr>
            <a:r>
              <a:t>•  5-fold GridSearchCV identified α = 0.01 as the best tested regularization strength.</a:t>
            </a:r>
          </a:p>
          <a:p>
            <a:pPr>
              <a:spcAft>
                <a:spcPts val="1100"/>
              </a:spcAft>
              <a:defRPr sz="1600">
                <a:solidFill>
                  <a:srgbClr val="303733"/>
                </a:solidFill>
                <a:latin typeface="Aptos"/>
              </a:defRPr>
            </a:pPr>
            <a:r>
              <a:t>•  The final tuned model achieved RMSE = 1.4398 and R² = 0.9989 on the unseen test dataset.</a:t>
            </a:r>
          </a:p>
          <a:p>
            <a:pPr>
              <a:spcAft>
                <a:spcPts val="1100"/>
              </a:spcAft>
              <a:defRPr sz="1600">
                <a:solidFill>
                  <a:srgbClr val="303733"/>
                </a:solidFill>
                <a:latin typeface="Aptos"/>
              </a:defRPr>
            </a:pPr>
            <a:r>
              <a:t>•  The predictions were exported for Power BI, enabling interactive spatial crowd-density and congestion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44068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5550408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F705B"/>
                </a:solidFill>
                <a:latin typeface="Aptos Display"/>
              </a:rPr>
              <a:t>1.4398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609904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69716C"/>
                </a:solidFill>
                <a:latin typeface="Aptos"/>
              </a:rPr>
              <a:t>Final RMSE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544068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5550408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F705B"/>
                </a:solidFill>
                <a:latin typeface="Aptos Display"/>
              </a:rPr>
              <a:t>0.9989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609904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69716C"/>
                </a:solidFill>
                <a:latin typeface="Aptos"/>
              </a:rPr>
              <a:t>Final R²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544068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5550408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F705B"/>
                </a:solidFill>
                <a:latin typeface="Aptos Display"/>
              </a:rPr>
              <a:t>0.01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09904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69716C"/>
                </a:solidFill>
                <a:latin typeface="Aptos"/>
              </a:rPr>
              <a:t>Best 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16C"/>
                </a:solidFill>
                <a:latin typeface="Aptos"/>
              </a:rPr>
              <a:t>Crowd Density Prediction &amp; Optimization  • 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