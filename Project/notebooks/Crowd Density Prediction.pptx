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407098"/>
            <a:ext cx="10668000" cy="12001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250751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Inter"/>
              </a:rPr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07951"/>
            <a:ext cx="10001250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Space Grotesk"/>
              </a:rPr>
              <a:t>Crowd Density Prediction</a:t>
            </a:r>
            <a:r>
              <a:t>
</a:t>
            </a:r>
            <a:r>
              <a:rPr sz="5400" b="1" i="0" u="none">
                <a:solidFill>
                  <a:srgbClr val="F8FAFC"/>
                </a:solidFill>
                <a:latin typeface="Space Grotesk"/>
              </a:rPr>
              <a:t>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21273"/>
            <a:ext cx="7620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"/>
              </a:rPr>
              <a:t>Data Integration • Feature Engineering • ML Tuning •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873823"/>
            <a:ext cx="1476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1.4398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407223"/>
            <a:ext cx="14763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Final 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7975" y="4873823"/>
            <a:ext cx="15525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0.9989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7975" y="5407223"/>
            <a:ext cx="15525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Final R²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191125"/>
            <a:ext cx="10668000" cy="9048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43137"/>
            <a:ext cx="3352800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2357437"/>
            <a:ext cx="3352800" cy="2162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357437"/>
            <a:ext cx="3352800" cy="2162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762000"/>
            <a:ext cx="1066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01 •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049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The Crowd Management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6425" y="5495925"/>
            <a:ext cx="84391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Inter"/>
              </a:rPr>
              <a:t>Target Variable:</a:t>
            </a:r>
            <a:r>
              <a:rPr sz="1800" b="0" i="0" u="none">
                <a:solidFill>
                  <a:srgbClr val="F8FAFC"/>
                </a:solidFill>
                <a:latin typeface="Inter"/>
              </a:rPr>
              <a:t> Predict continuous </a:t>
            </a:r>
            <a:r>
              <a:rPr sz="1800" b="1" i="0" u="none">
                <a:solidFill>
                  <a:srgbClr val="F8FAFC"/>
                </a:solidFill>
                <a:latin typeface="Inter"/>
              </a:rPr>
              <a:t>People_Count</a:t>
            </a:r>
            <a:r>
              <a:rPr sz="1800" b="0" i="0" u="none">
                <a:solidFill>
                  <a:srgbClr val="F8FAFC"/>
                </a:solidFill>
                <a:latin typeface="Inter"/>
              </a:rPr>
              <a:t> via supervised regression.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624137"/>
            <a:ext cx="3810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3157537"/>
            <a:ext cx="272034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Unpredictable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67112"/>
            <a:ext cx="2590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Severe crowd surges and dynamic congestion hotspots.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738437"/>
            <a:ext cx="3810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00600" y="3271837"/>
            <a:ext cx="272034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Manual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681412"/>
            <a:ext cx="259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Impossible to continuously monitor all seating zones.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2738437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58200" y="3271837"/>
            <a:ext cx="272034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Strategic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681412"/>
            <a:ext cx="259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Optimize security allocation and flow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380" y="0"/>
            <a:ext cx="75286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392584"/>
            <a:ext cx="39013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02 •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35484"/>
            <a:ext cx="4096449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Sensor Data &amp;</a:t>
            </a:r>
            <a:r>
              <a:t>
</a:t>
            </a:r>
            <a:r>
              <a:rPr sz="3600" b="1" i="0" u="none">
                <a:solidFill>
                  <a:srgbClr val="0F172A"/>
                </a:solidFill>
                <a:latin typeface="Space Grotesk"/>
              </a:rPr>
              <a:t> Spatial Mapping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2704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100" y="3198465"/>
            <a:ext cx="365639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Target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569940"/>
            <a:ext cx="348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Even frequency spread across historical data.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360515"/>
            <a:ext cx="22860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4331940"/>
            <a:ext cx="365639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Clear Predictors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4703415"/>
            <a:ext cx="348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Perfect linear alignment with detected heads.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625C79-6479-A899-202A-72FC520EF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846" y="98737"/>
            <a:ext cx="3406435" cy="33759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0882BD-4B5C-2CE4-945F-9A55FA8AE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7689" y="106358"/>
            <a:ext cx="3520745" cy="33683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459F82-223F-4039-81F3-7EB4CACC1C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063" y="3501230"/>
            <a:ext cx="3322608" cy="33302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66619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619" y="2893665"/>
            <a:ext cx="3901380" cy="1285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619" y="4484340"/>
            <a:ext cx="3901380" cy="1285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5852219" cy="594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619" y="1087784"/>
            <a:ext cx="39013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03 • VARIABLE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8619" y="1430684"/>
            <a:ext cx="4096449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Near-Perfect Predictors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5319" y="3122265"/>
            <a:ext cx="357638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r = 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5319" y="3493740"/>
            <a:ext cx="340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Detected_Heads and Turnstile_Count strictly mirror People_Count.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5319" y="4712940"/>
            <a:ext cx="357638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Research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5319" y="5084415"/>
            <a:ext cx="340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Extremely strong correlations explain linear baseline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43125"/>
            <a:ext cx="5181600" cy="442674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43125"/>
            <a:ext cx="5181600" cy="44267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762000"/>
            <a:ext cx="1066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04 • FEATURE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049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Retained vs. Rejected Inputs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676525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2638425"/>
            <a:ext cx="317039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11 Retained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4950" y="3324225"/>
            <a:ext cx="39814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Turnstile Count &amp; BLE Pings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3743325"/>
            <a:ext cx="39814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Pressure Mat Activations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4950" y="4162425"/>
            <a:ext cx="39814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Detected Heads &amp;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4950" y="4581525"/>
            <a:ext cx="39814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Spatial (Seat X, 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4950" y="5000625"/>
            <a:ext cx="39814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Attendance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5419725"/>
            <a:ext cx="39814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Aggregated Inflow &amp; Outflow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2676525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62800" y="2638425"/>
            <a:ext cx="286035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Rejected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3324225"/>
            <a:ext cx="4267200" cy="78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Event_ID &amp; Seat_ID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Excluded to prevent data leakage and event overfitting.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4413646"/>
            <a:ext cx="4076700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Raw Flow Edges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Aggregated into numerical inflow/outflow instead.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5263157"/>
            <a:ext cx="4067175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Categorical Strings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Dropped for strict numerical-only scaling pipeline.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336232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3781425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4200525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4619625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5038725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5457825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43125"/>
            <a:ext cx="3352800" cy="39528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143125"/>
            <a:ext cx="3352800" cy="3952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2143125"/>
            <a:ext cx="3352800" cy="3952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762000"/>
            <a:ext cx="1066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05 •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049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Data Pipeline Architecture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148012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88306" y="3910012"/>
            <a:ext cx="15001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Space Grotesk"/>
              </a:rPr>
              <a:t>80/20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4405312"/>
            <a:ext cx="243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Strict separation of training and generalization test data.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0" y="3148012"/>
            <a:ext cx="5715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55870" y="3910012"/>
            <a:ext cx="20802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Space Grotesk"/>
              </a:rPr>
              <a:t>StandardScaler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4405312"/>
            <a:ext cx="243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Converts varying numerical scales into standard z-scores.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330041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48474" y="4062412"/>
            <a:ext cx="201025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Space Grotesk"/>
              </a:rPr>
              <a:t>Target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850" y="4557712"/>
            <a:ext cx="2095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Space Grotesk"/>
              </a:rPr>
              <a:t>People_Count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066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06 •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1049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Algorithm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2143125"/>
          <a:ext cx="10668000" cy="4562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41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RMSE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R²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Observation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41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Inter"/>
                        </a:rPr>
                        <a:t>Linear Regression</a:t>
                      </a:r>
                    </a:p>
                  </a:txBody>
                  <a:tcPr marL="4191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Inter"/>
                        </a:rPr>
                        <a:t>1.4404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Inter"/>
                        </a:rPr>
                        <a:t>0.9989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Inter"/>
                        </a:rPr>
                        <a:t>Best baseline performance.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412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Gradient Boosting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1.7437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0.9984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Strong generalization.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412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XGBoost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1.7506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0.9984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Strong generalization.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412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1.8749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0.9981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Adequate non-linear fit.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415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Decision Tree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2.7350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0.9960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64748B"/>
                          </a:solidFill>
                          <a:latin typeface="Inter"/>
                        </a:rPr>
                        <a:t>Highest prediction error.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305175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305175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237" y="0"/>
            <a:ext cx="6100762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98615"/>
            <a:ext cx="4567237" cy="1190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268759"/>
            <a:ext cx="456723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07 • FINAL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11659"/>
            <a:ext cx="4795599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Ridge Regression</a:t>
            </a:r>
            <a:r>
              <a:t>
</a:t>
            </a:r>
            <a:r>
              <a:rPr sz="3600" b="1" i="0" u="none">
                <a:solidFill>
                  <a:srgbClr val="0F172A"/>
                </a:solidFill>
                <a:latin typeface="Space Grotesk"/>
              </a:rPr>
              <a:t>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74640"/>
            <a:ext cx="4567237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GridSearchCV + 5-fold cross-validation applied to control coefficient magnitude among highly correlated predictors.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756" y="1271587"/>
            <a:ext cx="2381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UNSEEN TEST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9593" y="1957387"/>
            <a:ext cx="1933575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sz="7500" b="1" i="0" u="none">
                <a:solidFill>
                  <a:srgbClr val="0F172A"/>
                </a:solidFill>
                <a:latin typeface="Space Grotesk"/>
              </a:rPr>
              <a:t>1.44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0018" y="3024187"/>
            <a:ext cx="27527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Inter Medium"/>
              </a:rPr>
              <a:t>Root Mean Squared Error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41581" y="3757612"/>
            <a:ext cx="6096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60493" y="4243387"/>
            <a:ext cx="2771775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sz="7500" b="1" i="0" u="none">
                <a:solidFill>
                  <a:srgbClr val="0F172A"/>
                </a:solidFill>
                <a:latin typeface="Space Grotesk"/>
              </a:rPr>
              <a:t>99.9%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5268" y="5310187"/>
            <a:ext cx="25622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Inter Medium"/>
              </a:rPr>
              <a:t>Explained Variance (R²)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627215"/>
            <a:ext cx="40719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α = 0.01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5160615"/>
            <a:ext cx="407193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Optimal L2 penalty selected.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613" y="0"/>
            <a:ext cx="789038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9213" y="1544984"/>
            <a:ext cx="3962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Inter"/>
              </a:rPr>
              <a:t>08 •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9213" y="1887884"/>
            <a:ext cx="416052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Business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213" y="2761704"/>
            <a:ext cx="416052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Space Grotesk"/>
              </a:rPr>
              <a:t>Interactive Prediction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213" y="3542059"/>
            <a:ext cx="396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Inter"/>
              </a:rPr>
              <a:t>Visualizes live crowd density estimates by exact seating zone.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213" y="4381451"/>
            <a:ext cx="416052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Space Grotesk"/>
              </a:rPr>
              <a:t>Hotspot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213" y="4866531"/>
            <a:ext cx="396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Inter"/>
              </a:rPr>
              <a:t>Dynamic filtering by gate and congestion zone.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D086B1-252D-5843-1CA3-70269B1BA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613" y="0"/>
            <a:ext cx="7890387" cy="69275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709862"/>
            <a:ext cx="2870150" cy="2533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50" y="2709862"/>
            <a:ext cx="2870150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200" y="2709862"/>
            <a:ext cx="2870150" cy="2533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98281" y="1004887"/>
            <a:ext cx="159543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Inter"/>
              </a:rPr>
              <a:t>09 •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5701" y="1423987"/>
            <a:ext cx="4780597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Space Grotesk"/>
              </a:rPr>
              <a:t>Pipeline Delivered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000" y="3167062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41806" y="3776662"/>
            <a:ext cx="205353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Space Grotesk"/>
              </a:rPr>
              <a:t>Engineered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0700" y="4186237"/>
            <a:ext cx="1955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11 unified spatial, sensor, and movement features.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351" y="3167062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69156" y="3776662"/>
            <a:ext cx="205353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Space Grotesk"/>
              </a:rPr>
              <a:t>Optimized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8050" y="4186237"/>
            <a:ext cx="1955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Ridge regression tuned for highly correlated predictors.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8889" y="3167062"/>
            <a:ext cx="428625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96507" y="3776662"/>
            <a:ext cx="205353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Space Grotesk"/>
              </a:rPr>
              <a:t>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5400" y="4186237"/>
            <a:ext cx="1955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Interactive Power BI spatial congestion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397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Inter</vt:lpstr>
      <vt:lpstr>Inter Medium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VINODH KUMAR VK</cp:lastModifiedBy>
  <cp:revision>3</cp:revision>
  <dcterms:created xsi:type="dcterms:W3CDTF">2013-01-27T09:14:16Z</dcterms:created>
  <dcterms:modified xsi:type="dcterms:W3CDTF">2026-09-01T09:55:13Z</dcterms:modified>
  <cp:category/>
</cp:coreProperties>
</file>