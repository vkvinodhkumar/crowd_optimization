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545210"/>
            <a:ext cx="10668000" cy="12001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112639"/>
            <a:ext cx="952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38BDF8"/>
                </a:solidFill>
                <a:latin typeface="Inter"/>
              </a:rP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569839"/>
            <a:ext cx="10001250" cy="15085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5940"/>
              </a:lnSpc>
            </a:pPr>
            <a:r>
              <a:rPr b="1" sz="5400" i="0" u="none">
                <a:solidFill>
                  <a:srgbClr val="F8FAFC"/>
                </a:solidFill>
                <a:latin typeface="Space Grotesk"/>
              </a:rPr>
              <a:t>Crowd Density Prediction</a:t>
            </a:r>
            <a:r>
              <a:t>
</a:t>
            </a:r>
            <a:r>
              <a:rPr b="1" sz="5400" i="0" u="none">
                <a:solidFill>
                  <a:srgbClr val="F8FAFC"/>
                </a:solidFill>
                <a:latin typeface="Space Grotesk"/>
              </a:rPr>
              <a:t> &amp;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383160"/>
            <a:ext cx="7620000" cy="552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800" i="0" u="none">
                <a:solidFill>
                  <a:srgbClr val="94A3B8"/>
                </a:solidFill>
                <a:latin typeface="Inter"/>
              </a:rPr>
              <a:t>Problem Statement • Model Selection • Comparative Study •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011935"/>
            <a:ext cx="14763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1" sz="3600" i="0" u="none">
                <a:solidFill>
                  <a:srgbClr val="F8FAFC"/>
                </a:solidFill>
                <a:latin typeface="Space Grotesk"/>
              </a:rPr>
              <a:t>1.4398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545335"/>
            <a:ext cx="147637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4A3B8"/>
                </a:solidFill>
                <a:latin typeface="Inter"/>
              </a:rPr>
              <a:t>Final RMSE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7975" y="5011935"/>
            <a:ext cx="15525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1" sz="3600" i="0" u="none">
                <a:solidFill>
                  <a:srgbClr val="F8FAFC"/>
                </a:solidFill>
                <a:latin typeface="Space Grotesk"/>
              </a:rPr>
              <a:t>0.9989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7975" y="5545335"/>
            <a:ext cx="155257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4A3B8"/>
                </a:solidFill>
                <a:latin typeface="Inter"/>
              </a:rPr>
              <a:t>Final R²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150" y="5011935"/>
            <a:ext cx="10477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b="1" sz="3600" i="0" u="none">
                <a:solidFill>
                  <a:srgbClr val="F8FAFC"/>
                </a:solidFill>
                <a:latin typeface="Space Grotesk"/>
              </a:rPr>
              <a:t>0.01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150" y="5545335"/>
            <a:ext cx="10477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94A3B8"/>
                </a:solidFill>
                <a:latin typeface="Inter"/>
              </a:rPr>
              <a:t>Best Ridge 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5191125"/>
            <a:ext cx="10668000" cy="9048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243137"/>
            <a:ext cx="3352800" cy="23907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600" y="2357437"/>
            <a:ext cx="3352800" cy="21621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0" y="2243137"/>
            <a:ext cx="3352800" cy="2390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762000"/>
            <a:ext cx="1066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8BDF8"/>
                </a:solidFill>
                <a:latin typeface="Inter"/>
              </a:rPr>
              <a:t>01 •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104900"/>
            <a:ext cx="11201400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F172A"/>
                </a:solidFill>
                <a:latin typeface="Space Grotesk"/>
              </a:rPr>
              <a:t>The Crowd Management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6425" y="5495925"/>
            <a:ext cx="843915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800" i="0" u="none">
                <a:solidFill>
                  <a:srgbClr val="38BDF8"/>
                </a:solidFill>
                <a:latin typeface="Inter"/>
              </a:rPr>
              <a:t>Target Variable:</a:t>
            </a:r>
            <a:r>
              <a:rPr b="0" sz="1800" i="0" u="none">
                <a:solidFill>
                  <a:srgbClr val="F8FAFC"/>
                </a:solidFill>
                <a:latin typeface="Inter"/>
              </a:rPr>
              <a:t> Predict continuous </a:t>
            </a:r>
            <a:r>
              <a:rPr b="1" sz="1800" i="0" u="none">
                <a:solidFill>
                  <a:srgbClr val="F8FAFC"/>
                </a:solidFill>
                <a:latin typeface="Inter"/>
              </a:rPr>
              <a:t>People_Count</a:t>
            </a:r>
            <a:r>
              <a:rPr b="0" sz="1800" i="0" u="none">
                <a:solidFill>
                  <a:srgbClr val="F8FAFC"/>
                </a:solidFill>
                <a:latin typeface="Inter"/>
              </a:rPr>
              <a:t> via supervised regression.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2624137"/>
            <a:ext cx="381000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43000" y="3157537"/>
            <a:ext cx="272034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Unpredictable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567112"/>
            <a:ext cx="2590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Inter"/>
              </a:rPr>
              <a:t>Severe crowd surges and dynamic congestion hotspots.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2738437"/>
            <a:ext cx="38100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00600" y="3271837"/>
            <a:ext cx="272034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Manual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681412"/>
            <a:ext cx="259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Inter"/>
              </a:rPr>
              <a:t>Impossible to continuously monitor all seating zones.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8200" y="2624137"/>
            <a:ext cx="30480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58200" y="3157537"/>
            <a:ext cx="272034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Strategic Objective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3567112"/>
            <a:ext cx="2590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Inter"/>
              </a:rPr>
              <a:t>Optimize security allocation and crowd-flow management.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237" y="0"/>
            <a:ext cx="6100762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762" y="1209675"/>
            <a:ext cx="4567237" cy="44386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1190625"/>
            <a:ext cx="4567237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8BDF8"/>
                </a:solidFill>
                <a:latin typeface="Inter"/>
              </a:rPr>
              <a:t>02 • 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533525"/>
            <a:ext cx="4795599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F172A"/>
                </a:solidFill>
                <a:latin typeface="Space Grotesk"/>
              </a:rPr>
              <a:t>Ridge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9962" y="1666875"/>
            <a:ext cx="365283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500" i="0" u="none">
                <a:solidFill>
                  <a:srgbClr val="0F172A"/>
                </a:solidFill>
                <a:latin typeface="Inter"/>
              </a:rPr>
              <a:t>FINAL TEST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9962" y="2200275"/>
            <a:ext cx="3652837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b="1" sz="6000" i="0" u="none">
                <a:solidFill>
                  <a:srgbClr val="0F172A"/>
                </a:solidFill>
                <a:latin typeface="Space Grotesk"/>
              </a:rPr>
              <a:t>1.44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9962" y="3076575"/>
            <a:ext cx="365283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500" i="0" u="none">
                <a:solidFill>
                  <a:srgbClr val="64748B"/>
                </a:solidFill>
                <a:latin typeface="Inter Medium"/>
              </a:rPr>
              <a:t>Root Mean Squared Error</a:t>
            </a:r>
          </a:p>
        </p:txBody>
      </p:sp>
      <p:sp>
        <p:nvSpPr>
          <p:cNvPr id="9" name="Rectangle 8"/>
          <p:cNvSpPr/>
          <p:nvPr/>
        </p:nvSpPr>
        <p:spPr>
          <a:xfrm>
            <a:off x="8841581" y="3686175"/>
            <a:ext cx="609600" cy="190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9962" y="4086225"/>
            <a:ext cx="3652837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b="1" sz="6000" i="0" u="none">
                <a:solidFill>
                  <a:srgbClr val="0F172A"/>
                </a:solidFill>
                <a:latin typeface="Space Grotesk"/>
              </a:rPr>
              <a:t>99.9%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9962" y="4962525"/>
            <a:ext cx="365283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500" i="0" u="none">
                <a:solidFill>
                  <a:srgbClr val="64748B"/>
                </a:solidFill>
                <a:latin typeface="Inter Medium"/>
              </a:rPr>
              <a:t>Explained Variance (R²)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2600325"/>
            <a:ext cx="257175" cy="2476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09675" y="2571750"/>
            <a:ext cx="432554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L2 Regularization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9675" y="2943225"/>
            <a:ext cx="41195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Inter"/>
              </a:rPr>
              <a:t>Controls coefficient magnitude for correlated predictors.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3733800"/>
            <a:ext cx="228600" cy="2476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1100" y="3705225"/>
            <a:ext cx="4355544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Hyperparameter Tuning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1100" y="4076700"/>
            <a:ext cx="414813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Inter"/>
              </a:rPr>
              <a:t>5-fold GridSearchCV across multiple penalties.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4867275"/>
            <a:ext cx="228600" cy="2476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81100" y="4838700"/>
            <a:ext cx="4355544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Optimal Alpha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1100" y="5210175"/>
            <a:ext cx="414813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64748B"/>
                </a:solidFill>
                <a:latin typeface="Inter"/>
              </a:rPr>
              <a:t>α = 0.01 selected for final unseen test evaluation.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762000"/>
            <a:ext cx="1066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8BDF8"/>
                </a:solidFill>
                <a:latin typeface="Inter"/>
              </a:rPr>
              <a:t>03 • COMPARATIVE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104900"/>
            <a:ext cx="11201400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F172A"/>
                </a:solidFill>
                <a:latin typeface="Space Grotesk"/>
              </a:rPr>
              <a:t>Algorithm Performance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143125"/>
          <a:ext cx="10668000" cy="4562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3200400"/>
                <a:gridCol w="2133600"/>
                <a:gridCol w="2133600"/>
                <a:gridCol w="3200400"/>
              </a:tblGrid>
              <a:tr h="760412">
                <a:tc>
                  <a:txBody>
                    <a:bodyPr/>
                    <a:lstStyle/>
                    <a:p>
                      <a:pPr algn="l"/>
                      <a:r>
                        <a:rPr b="1" sz="1650" i="0" u="none">
                          <a:solidFill>
                            <a:srgbClr val="0F172A"/>
                          </a:solidFill>
                          <a:latin typeface="Space Grotesk"/>
                        </a:rPr>
                        <a:t>Model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50" i="0" u="none">
                          <a:solidFill>
                            <a:srgbClr val="0F172A"/>
                          </a:solidFill>
                          <a:latin typeface="Space Grotesk"/>
                        </a:rPr>
                        <a:t>RMSE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50" i="0" u="none">
                          <a:solidFill>
                            <a:srgbClr val="0F172A"/>
                          </a:solidFill>
                          <a:latin typeface="Space Grotesk"/>
                        </a:rPr>
                        <a:t>R² Score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50" i="0" u="none">
                          <a:solidFill>
                            <a:srgbClr val="0F172A"/>
                          </a:solidFill>
                          <a:latin typeface="Space Grotesk"/>
                        </a:rPr>
                        <a:t>Observation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60412">
                <a:tc>
                  <a:txBody>
                    <a:bodyPr/>
                    <a:lstStyle/>
                    <a:p>
                      <a:pPr algn="l"/>
                      <a:r>
                        <a:rPr b="1" sz="1650" i="0" u="none">
                          <a:solidFill>
                            <a:srgbClr val="0F172A"/>
                          </a:solidFill>
                          <a:latin typeface="Inter"/>
                        </a:rPr>
                        <a:t>Linear Regression</a:t>
                      </a:r>
                    </a:p>
                  </a:txBody>
                  <a:tcPr anchor="ctr" marL="4191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50" i="0" u="none">
                          <a:solidFill>
                            <a:srgbClr val="0F172A"/>
                          </a:solidFill>
                          <a:latin typeface="Inter"/>
                        </a:rPr>
                        <a:t>1.4404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50" i="0" u="none">
                          <a:solidFill>
                            <a:srgbClr val="0F172A"/>
                          </a:solidFill>
                          <a:latin typeface="Inter"/>
                        </a:rPr>
                        <a:t>0.9989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650" i="0" u="none">
                          <a:solidFill>
                            <a:srgbClr val="0F172A"/>
                          </a:solidFill>
                          <a:latin typeface="Inter"/>
                        </a:rPr>
                        <a:t>Best baseline performance.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760412"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334155"/>
                          </a:solidFill>
                          <a:latin typeface="Inter Medium"/>
                        </a:rPr>
                        <a:t>Gradient Boosting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1.7437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0.9984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Strong generalization.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60412"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334155"/>
                          </a:solidFill>
                          <a:latin typeface="Inter Medium"/>
                        </a:rPr>
                        <a:t>XGBoost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1.7506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0.9984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Strong generalization.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60412"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334155"/>
                          </a:solidFill>
                          <a:latin typeface="Inter Medium"/>
                        </a:rPr>
                        <a:t>Random Forest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1.8749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0.9981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Adequate non-linear fit.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760415"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334155"/>
                          </a:solidFill>
                          <a:latin typeface="Inter Medium"/>
                        </a:rPr>
                        <a:t>Decision Tree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2.7350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0.9960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650" i="0" u="none">
                          <a:solidFill>
                            <a:srgbClr val="64748B"/>
                          </a:solidFill>
                          <a:latin typeface="Inter"/>
                        </a:rPr>
                        <a:t>Highest prediction error.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3305175"/>
            <a:ext cx="190500" cy="1714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3305175"/>
            <a:ext cx="190500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295525"/>
            <a:ext cx="10668000" cy="168592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62000"/>
            <a:ext cx="10668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38BDF8"/>
                </a:solidFill>
                <a:latin typeface="Inter"/>
              </a:rPr>
              <a:t>04 •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04900"/>
            <a:ext cx="11201400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3600" i="0" u="none">
                <a:solidFill>
                  <a:srgbClr val="0F172A"/>
                </a:solidFill>
                <a:latin typeface="Space Grotesk"/>
              </a:rPr>
              <a:t>Pipeline Delivered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571875" y="2833687"/>
            <a:ext cx="9525" cy="6096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67625" y="2833687"/>
            <a:ext cx="9525" cy="6096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752725"/>
            <a:ext cx="9334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38BDF8"/>
                </a:solidFill>
                <a:latin typeface="Space Grotesk"/>
              </a:rPr>
              <a:t>1.44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324225"/>
            <a:ext cx="93345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F8FAFC"/>
                </a:solidFill>
                <a:latin typeface="Inter"/>
              </a:rPr>
              <a:t>Final 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8225" y="2752725"/>
            <a:ext cx="15525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38BDF8"/>
                </a:solidFill>
                <a:latin typeface="Space Grotesk"/>
              </a:rPr>
              <a:t>0.9989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8225" y="3324225"/>
            <a:ext cx="155257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F8FAFC"/>
                </a:solidFill>
                <a:latin typeface="Inter"/>
              </a:rPr>
              <a:t>Final R²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43975" y="2752725"/>
            <a:ext cx="187642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b="1" sz="3600" i="0" u="none">
                <a:solidFill>
                  <a:srgbClr val="38BDF8"/>
                </a:solidFill>
                <a:latin typeface="Space Grotesk"/>
              </a:rPr>
              <a:t>0.01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3975" y="3324225"/>
            <a:ext cx="1876425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F8FAFC"/>
                </a:solidFill>
                <a:latin typeface="Inter"/>
              </a:rPr>
              <a:t>Best Regularization (α)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4862512"/>
            <a:ext cx="352044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1. Data Integration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272087"/>
            <a:ext cx="3352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Inter"/>
              </a:rPr>
              <a:t>Unified sensor, spatial, and movement telemetry.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9600" y="4862512"/>
            <a:ext cx="352044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2. Model Tuning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9600" y="5272087"/>
            <a:ext cx="3352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Inter"/>
              </a:rPr>
              <a:t>Linear baseline optimized via Ridge GridSearchCV.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7200" y="4862512"/>
            <a:ext cx="3520440" cy="2952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Space Grotesk"/>
              </a:rPr>
              <a:t>3. BI Deployment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7200" y="5272087"/>
            <a:ext cx="33528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64748B"/>
                </a:solidFill>
                <a:latin typeface="Inter"/>
              </a:rPr>
              <a:t>Interactive Power BI spatial congestion dashboard.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